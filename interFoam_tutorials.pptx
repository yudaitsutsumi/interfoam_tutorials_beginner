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73" r:id="rId5"/>
    <p:sldId id="259" r:id="rId6"/>
    <p:sldId id="261" r:id="rId7"/>
    <p:sldId id="262" r:id="rId8"/>
    <p:sldId id="274" r:id="rId9"/>
    <p:sldId id="263" r:id="rId10"/>
    <p:sldId id="264" r:id="rId11"/>
    <p:sldId id="265" r:id="rId12"/>
    <p:sldId id="266" r:id="rId13"/>
    <p:sldId id="269" r:id="rId14"/>
    <p:sldId id="268" r:id="rId15"/>
    <p:sldId id="27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8E5C"/>
    <a:srgbClr val="839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3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A0500-5363-4DF9-805C-C965E9C3B61B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C6B7-36B0-424F-AB3C-1E15B5A46F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135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0429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73084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0792" y="6492874"/>
            <a:ext cx="723207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F36C73AB-1484-4739-9B14-C11D8403ABC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1489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73084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0792" y="6492874"/>
            <a:ext cx="723207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F36C73AB-1484-4739-9B14-C11D8403ABC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5791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73084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0792" y="6492874"/>
            <a:ext cx="723207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F36C73AB-1484-4739-9B14-C11D8403ABC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71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7449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165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182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09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8514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2436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072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097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669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C73AB-1484-4739-9B14-C11D8403A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911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emf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590.png"/><Relationship Id="rId4" Type="http://schemas.openxmlformats.org/officeDocument/2006/relationships/image" Target="../media/image5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">
            <a:hlinkClick r:id="" action="ppaction://media"/>
            <a:extLst>
              <a:ext uri="{FF2B5EF4-FFF2-40B4-BE49-F238E27FC236}">
                <a16:creationId xmlns:a16="http://schemas.microsoft.com/office/drawing/2014/main" id="{7A2CAB1A-5123-6EE0-5D40-24C18D15DA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b="2104"/>
          <a:stretch>
            <a:fillRect/>
          </a:stretch>
        </p:blipFill>
        <p:spPr>
          <a:xfrm>
            <a:off x="372586" y="3295715"/>
            <a:ext cx="4199414" cy="348958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F397EB-7DFD-4A8F-D4A1-EA42AC681558}"/>
              </a:ext>
            </a:extLst>
          </p:cNvPr>
          <p:cNvSpPr txBox="1"/>
          <p:nvPr/>
        </p:nvSpPr>
        <p:spPr>
          <a:xfrm>
            <a:off x="601805" y="1149927"/>
            <a:ext cx="816960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b="1" dirty="0" err="1"/>
              <a:t>OpenFOAM</a:t>
            </a:r>
            <a:r>
              <a:rPr kumimoji="1" lang="ja-JP" altLang="en-US" sz="4400" b="1" dirty="0"/>
              <a:t>でのメッシュ作成と</a:t>
            </a:r>
            <a:endParaRPr kumimoji="1" lang="en-US" altLang="ja-JP" sz="4400" b="1" dirty="0"/>
          </a:p>
          <a:p>
            <a:r>
              <a:rPr kumimoji="1" lang="en-US" altLang="ja-JP" sz="4400" b="1" dirty="0" err="1"/>
              <a:t>interFoam</a:t>
            </a:r>
            <a:r>
              <a:rPr kumimoji="1" lang="ja-JP" altLang="en-US" sz="4400" b="1" dirty="0"/>
              <a:t>の設定</a:t>
            </a:r>
          </a:p>
        </p:txBody>
      </p:sp>
      <p:pic>
        <p:nvPicPr>
          <p:cNvPr id="2" name="melt">
            <a:hlinkClick r:id="" action="ppaction://media"/>
            <a:extLst>
              <a:ext uri="{FF2B5EF4-FFF2-40B4-BE49-F238E27FC236}">
                <a16:creationId xmlns:a16="http://schemas.microsoft.com/office/drawing/2014/main" id="{F485F119-6107-A4CF-1B9B-01DBED8C624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13838" t="5503" r="13398" b="1760"/>
          <a:stretch>
            <a:fillRect/>
          </a:stretch>
        </p:blipFill>
        <p:spPr>
          <a:xfrm>
            <a:off x="5186037" y="3620557"/>
            <a:ext cx="3585377" cy="316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7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5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4ED0FC-4C0D-AE02-B6D1-691E4A378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blockMesh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F02706F-4307-4D89-02BD-2325A2FA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7435D79-5202-3A18-0B44-86D9334ABD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"/>
          <a:stretch>
            <a:fillRect/>
          </a:stretch>
        </p:blipFill>
        <p:spPr>
          <a:xfrm>
            <a:off x="4738163" y="1110168"/>
            <a:ext cx="4044232" cy="2209992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EBF0D7C7-B65D-D9C2-5A7A-7A2D18AEE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1053751"/>
            <a:ext cx="2985737" cy="2590597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9E190514-367F-46DC-FBA1-C61BE3ACC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26" y="3902276"/>
            <a:ext cx="3037399" cy="2590598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C3786EF9-FC61-7C82-009A-781B3DE9F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619" y="3902276"/>
            <a:ext cx="1337056" cy="2266561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3AC53B1E-0498-FAE9-F357-14BBEB29E4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895" y="3902276"/>
            <a:ext cx="1297214" cy="2266561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E0986FCF-9169-CDE9-0BD1-A4EEB64283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7560" y="3902276"/>
            <a:ext cx="1242952" cy="2266561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7A6E4D4-0097-B5FD-D088-A4D97DFB5284}"/>
              </a:ext>
            </a:extLst>
          </p:cNvPr>
          <p:cNvSpPr txBox="1"/>
          <p:nvPr/>
        </p:nvSpPr>
        <p:spPr>
          <a:xfrm>
            <a:off x="701045" y="5035556"/>
            <a:ext cx="58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/>
              <a:t>Xmin</a:t>
            </a:r>
            <a:endParaRPr kumimoji="1" lang="ja-JP" altLang="en-US" sz="14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0FFD4C4-3EE7-64B7-53F0-3AFACF8CF500}"/>
              </a:ext>
            </a:extLst>
          </p:cNvPr>
          <p:cNvSpPr txBox="1"/>
          <p:nvPr/>
        </p:nvSpPr>
        <p:spPr>
          <a:xfrm>
            <a:off x="3253721" y="4798962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/>
              <a:t>Xmax</a:t>
            </a:r>
            <a:endParaRPr kumimoji="1" lang="ja-JP" altLang="en-US" sz="1400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C7CF628-D9D7-8C9E-2ED8-246D16CFDB20}"/>
              </a:ext>
            </a:extLst>
          </p:cNvPr>
          <p:cNvSpPr txBox="1"/>
          <p:nvPr/>
        </p:nvSpPr>
        <p:spPr>
          <a:xfrm>
            <a:off x="1523587" y="5465503"/>
            <a:ext cx="58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/>
              <a:t>Ymin</a:t>
            </a:r>
            <a:endParaRPr kumimoji="1" lang="ja-JP" altLang="en-US" sz="14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486D5FE-56FE-92DB-F00D-D1016691B057}"/>
              </a:ext>
            </a:extLst>
          </p:cNvPr>
          <p:cNvSpPr txBox="1"/>
          <p:nvPr/>
        </p:nvSpPr>
        <p:spPr>
          <a:xfrm>
            <a:off x="2445203" y="4876232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/>
              <a:t>Ymax</a:t>
            </a:r>
            <a:endParaRPr kumimoji="1" lang="ja-JP" altLang="en-US" sz="14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C39A245-765A-2601-051F-D0BB8036FF6E}"/>
              </a:ext>
            </a:extLst>
          </p:cNvPr>
          <p:cNvSpPr txBox="1"/>
          <p:nvPr/>
        </p:nvSpPr>
        <p:spPr>
          <a:xfrm>
            <a:off x="2082656" y="6157965"/>
            <a:ext cx="58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/>
              <a:t>Zmin</a:t>
            </a:r>
            <a:endParaRPr kumimoji="1" lang="ja-JP" altLang="en-US" sz="1400" dirty="0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BE7242A5-B95B-C4B6-F18E-BEBAD7D6ADBA}"/>
              </a:ext>
            </a:extLst>
          </p:cNvPr>
          <p:cNvSpPr txBox="1"/>
          <p:nvPr/>
        </p:nvSpPr>
        <p:spPr>
          <a:xfrm>
            <a:off x="2204454" y="3875144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/>
              <a:t>Zmax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563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371C90-7256-D48E-5067-294681EEE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blockMesh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753E91-C7E5-08B7-E527-4B24748B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F9CB714-700F-40C9-E0B4-A1F27F68F5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0773"/>
          <a:stretch>
            <a:fillRect/>
          </a:stretch>
        </p:blipFill>
        <p:spPr>
          <a:xfrm>
            <a:off x="4572000" y="1243586"/>
            <a:ext cx="1775614" cy="114194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35270F5-204A-8A86-E7B3-ED248F090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892"/>
          <a:stretch>
            <a:fillRect/>
          </a:stretch>
        </p:blipFill>
        <p:spPr>
          <a:xfrm>
            <a:off x="6645178" y="968766"/>
            <a:ext cx="1775614" cy="169158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7674970-F12C-10D2-8F16-5D91E1E97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08" y="968766"/>
            <a:ext cx="2803685" cy="2554355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107E52A-B406-BABE-CC79-D7AC873B968B}"/>
              </a:ext>
            </a:extLst>
          </p:cNvPr>
          <p:cNvSpPr txBox="1"/>
          <p:nvPr/>
        </p:nvSpPr>
        <p:spPr>
          <a:xfrm>
            <a:off x="1937226" y="935809"/>
            <a:ext cx="112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atmosphere</a:t>
            </a:r>
            <a:endParaRPr kumimoji="1" lang="ja-JP" altLang="en-US" sz="1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60E80D3-1356-6881-A8DC-FAB68D1D57EC}"/>
              </a:ext>
            </a:extLst>
          </p:cNvPr>
          <p:cNvSpPr txBox="1"/>
          <p:nvPr/>
        </p:nvSpPr>
        <p:spPr>
          <a:xfrm>
            <a:off x="2937308" y="2822416"/>
            <a:ext cx="589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walls</a:t>
            </a:r>
            <a:endParaRPr kumimoji="1" lang="ja-JP" altLang="en-US" sz="14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66D83BF-7871-782A-4179-43686880D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69" y="3964363"/>
            <a:ext cx="3784382" cy="249660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B096653D-E982-2027-7CF8-CD04C81F1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420" y="3869945"/>
            <a:ext cx="1684166" cy="2591025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CBC91272-FD52-9DA7-31DF-1AEA48D29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563" y="3869945"/>
            <a:ext cx="1715342" cy="2326899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59BCA29-5791-7F93-EFC2-2D5D158B9EEE}"/>
              </a:ext>
            </a:extLst>
          </p:cNvPr>
          <p:cNvSpPr txBox="1"/>
          <p:nvPr/>
        </p:nvSpPr>
        <p:spPr>
          <a:xfrm>
            <a:off x="2592911" y="6124519"/>
            <a:ext cx="589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walls</a:t>
            </a:r>
            <a:endParaRPr kumimoji="1" lang="ja-JP" altLang="en-US" sz="1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04189DB-B86D-3899-1D17-DF5D35B585C9}"/>
              </a:ext>
            </a:extLst>
          </p:cNvPr>
          <p:cNvSpPr txBox="1"/>
          <p:nvPr/>
        </p:nvSpPr>
        <p:spPr>
          <a:xfrm>
            <a:off x="1386139" y="3869945"/>
            <a:ext cx="112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atmosphere</a:t>
            </a:r>
            <a:endParaRPr kumimoji="1" lang="ja-JP" altLang="en-US" sz="14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CC46591-B609-0B01-0F1E-4B66FCB59AEA}"/>
              </a:ext>
            </a:extLst>
          </p:cNvPr>
          <p:cNvSpPr txBox="1"/>
          <p:nvPr/>
        </p:nvSpPr>
        <p:spPr>
          <a:xfrm>
            <a:off x="155516" y="4989463"/>
            <a:ext cx="929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/>
              <a:t>waveInlet</a:t>
            </a:r>
            <a:endParaRPr kumimoji="1" lang="ja-JP" altLang="en-US" sz="14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D96BF5C-DF6A-F048-8DF1-46CE5B54FF6A}"/>
              </a:ext>
            </a:extLst>
          </p:cNvPr>
          <p:cNvSpPr txBox="1"/>
          <p:nvPr/>
        </p:nvSpPr>
        <p:spPr>
          <a:xfrm>
            <a:off x="3445091" y="4921172"/>
            <a:ext cx="1165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/>
              <a:t>waveOutlet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59018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5D6D51-B13B-2700-6A66-FC526A4D6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課題１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6632E48-FE4D-DD54-1208-2DEC7781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61CAD6E-416F-4E07-A3DF-C87264041BAE}"/>
              </a:ext>
            </a:extLst>
          </p:cNvPr>
          <p:cNvSpPr txBox="1"/>
          <p:nvPr/>
        </p:nvSpPr>
        <p:spPr>
          <a:xfrm>
            <a:off x="387927" y="1016063"/>
            <a:ext cx="83681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blockMesh</a:t>
            </a:r>
            <a:r>
              <a:rPr lang="en-US" altLang="ja-JP" dirty="0"/>
              <a:t> </a:t>
            </a:r>
            <a:r>
              <a:rPr lang="ja-JP" altLang="en-US" dirty="0"/>
              <a:t>を使って，長さ</a:t>
            </a:r>
            <a:r>
              <a:rPr lang="en-US" altLang="ja-JP" dirty="0"/>
              <a:t>5m</a:t>
            </a:r>
            <a:r>
              <a:rPr lang="ja-JP" altLang="en-US" dirty="0"/>
              <a:t>（</a:t>
            </a:r>
            <a:r>
              <a:rPr lang="en-US" altLang="ja-JP" dirty="0"/>
              <a:t>X</a:t>
            </a:r>
            <a:r>
              <a:rPr lang="ja-JP" altLang="en-US" dirty="0"/>
              <a:t>），幅 </a:t>
            </a:r>
            <a:r>
              <a:rPr lang="en-US" altLang="ja-JP" dirty="0"/>
              <a:t>2m</a:t>
            </a:r>
            <a:r>
              <a:rPr lang="ja-JP" altLang="en-US" dirty="0"/>
              <a:t>（</a:t>
            </a:r>
            <a:r>
              <a:rPr lang="en-US" altLang="ja-JP" dirty="0"/>
              <a:t>Y</a:t>
            </a:r>
            <a:r>
              <a:rPr lang="ja-JP" altLang="en-US" dirty="0"/>
              <a:t>），高さ</a:t>
            </a:r>
            <a:r>
              <a:rPr lang="en-US" altLang="ja-JP" dirty="0"/>
              <a:t>2m</a:t>
            </a:r>
            <a:r>
              <a:rPr lang="ja-JP" altLang="en-US" dirty="0"/>
              <a:t>（</a:t>
            </a:r>
            <a:r>
              <a:rPr lang="en-US" altLang="ja-JP" dirty="0"/>
              <a:t>Z</a:t>
            </a:r>
            <a:r>
              <a:rPr lang="ja-JP" altLang="en-US" dirty="0"/>
              <a:t>）の水路を作成</a:t>
            </a:r>
            <a:endParaRPr lang="en-US" altLang="ja-JP" dirty="0"/>
          </a:p>
          <a:p>
            <a:r>
              <a:rPr lang="ja-JP" altLang="en-US" dirty="0"/>
              <a:t>長さ方向の中心が</a:t>
            </a:r>
            <a:r>
              <a:rPr lang="en-US" altLang="ja-JP" dirty="0"/>
              <a:t>x=0</a:t>
            </a:r>
            <a:r>
              <a:rPr lang="ja-JP" altLang="en-US" dirty="0"/>
              <a:t>，幅方向の中心が</a:t>
            </a:r>
            <a:r>
              <a:rPr lang="en-US" altLang="ja-JP" dirty="0"/>
              <a:t>y=0</a:t>
            </a:r>
            <a:r>
              <a:rPr lang="ja-JP" altLang="en-US" dirty="0"/>
              <a:t>，水路底面が</a:t>
            </a:r>
            <a:r>
              <a:rPr lang="en-US" altLang="ja-JP" dirty="0"/>
              <a:t>z=0</a:t>
            </a:r>
          </a:p>
          <a:p>
            <a:r>
              <a:rPr lang="ja-JP" altLang="en-US" dirty="0"/>
              <a:t>セルの大きさは</a:t>
            </a:r>
            <a:r>
              <a:rPr lang="en-US" altLang="ja-JP" dirty="0"/>
              <a:t>1</a:t>
            </a:r>
            <a:r>
              <a:rPr lang="ja-JP" altLang="en-US" dirty="0"/>
              <a:t>辺</a:t>
            </a:r>
            <a:r>
              <a:rPr lang="en-US" altLang="ja-JP" dirty="0"/>
              <a:t>10㎝</a:t>
            </a:r>
          </a:p>
          <a:p>
            <a:pPr marL="342900" indent="-342900">
              <a:buAutoNum type="arabicParenR"/>
            </a:pPr>
            <a:r>
              <a:rPr lang="en-US" altLang="ja-JP" dirty="0" err="1"/>
              <a:t>zMax</a:t>
            </a:r>
            <a:r>
              <a:rPr lang="ja-JP" altLang="en-US" dirty="0"/>
              <a:t>は大気，それ以外は壁</a:t>
            </a:r>
            <a:endParaRPr lang="en-US" altLang="ja-JP" dirty="0"/>
          </a:p>
          <a:p>
            <a:pPr marL="342900" indent="-342900">
              <a:buFontTx/>
              <a:buAutoNum type="arabicParenR"/>
            </a:pPr>
            <a:r>
              <a:rPr lang="en-US" altLang="ja-JP" dirty="0" err="1"/>
              <a:t>xMin</a:t>
            </a:r>
            <a:r>
              <a:rPr lang="ja-JP" altLang="en-US" dirty="0"/>
              <a:t>に</a:t>
            </a:r>
            <a:r>
              <a:rPr lang="en-US" altLang="ja-JP" dirty="0"/>
              <a:t>inlet</a:t>
            </a:r>
            <a:r>
              <a:rPr lang="ja-JP" altLang="en-US" dirty="0"/>
              <a:t>，</a:t>
            </a:r>
            <a:r>
              <a:rPr lang="en-US" altLang="ja-JP" dirty="0" err="1"/>
              <a:t>xMax</a:t>
            </a:r>
            <a:r>
              <a:rPr lang="ja-JP" altLang="en-US" dirty="0"/>
              <a:t>に</a:t>
            </a:r>
            <a:r>
              <a:rPr lang="en-US" altLang="ja-JP" dirty="0"/>
              <a:t>outlet</a:t>
            </a:r>
            <a:r>
              <a:rPr lang="ja-JP" altLang="en-US" dirty="0"/>
              <a:t>，</a:t>
            </a:r>
            <a:r>
              <a:rPr lang="en-US" altLang="ja-JP" dirty="0" err="1"/>
              <a:t>zMax</a:t>
            </a:r>
            <a:r>
              <a:rPr lang="ja-JP" altLang="en-US" dirty="0"/>
              <a:t>は大気，それ以外は壁</a:t>
            </a:r>
            <a:endParaRPr lang="en-US" altLang="ja-JP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C4D7366-6B99-82E5-0281-BEAEB05C9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6" y="3658018"/>
            <a:ext cx="4091709" cy="2834856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E9EB8E0-4D82-DD53-A385-CE2453DA8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211" y="3607009"/>
            <a:ext cx="3979131" cy="293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30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3BFBAA-41C2-77C6-0D2E-BC2D4F5A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snappyHexMesh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1D19E71-1DB7-FEBE-B742-6A189C9B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125DE88-5C47-C1D9-0E8F-51B486369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90" y="976392"/>
            <a:ext cx="3224626" cy="2656587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BF36F84-6812-D1CF-9215-D44ED9C004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259"/>
          <a:stretch>
            <a:fillRect/>
          </a:stretch>
        </p:blipFill>
        <p:spPr>
          <a:xfrm>
            <a:off x="3922372" y="878232"/>
            <a:ext cx="2049217" cy="146068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51D89659-2F8F-5615-A5CC-50E83F57AE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164"/>
          <a:stretch>
            <a:fillRect/>
          </a:stretch>
        </p:blipFill>
        <p:spPr>
          <a:xfrm>
            <a:off x="6224145" y="837111"/>
            <a:ext cx="2049218" cy="249815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09DA372D-9700-3D14-1030-4C39BBF3DE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71"/>
          <a:stretch>
            <a:fillRect/>
          </a:stretch>
        </p:blipFill>
        <p:spPr>
          <a:xfrm>
            <a:off x="795902" y="4067950"/>
            <a:ext cx="3776098" cy="27362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B6E7E7B0-A255-1D64-5C6F-49F66F41D259}"/>
                  </a:ext>
                </a:extLst>
              </p:cNvPr>
              <p:cNvSpPr txBox="1"/>
              <p:nvPr/>
            </p:nvSpPr>
            <p:spPr>
              <a:xfrm>
                <a:off x="1703704" y="6450110"/>
                <a:ext cx="97937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ja-JP" altLang="en-US" sz="1400" dirty="0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B6E7E7B0-A255-1D64-5C6F-49F66F41D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704" y="6450110"/>
                <a:ext cx="979371" cy="215444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943A029B-4EE2-D11F-1CBC-487B1C2A4831}"/>
                  </a:ext>
                </a:extLst>
              </p:cNvPr>
              <p:cNvSpPr txBox="1"/>
              <p:nvPr/>
            </p:nvSpPr>
            <p:spPr>
              <a:xfrm>
                <a:off x="3305321" y="6450110"/>
                <a:ext cx="97937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ja-JP" altLang="en-US" sz="1400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943A029B-4EE2-D11F-1CBC-487B1C2A4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321" y="6450110"/>
                <a:ext cx="979371" cy="215444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BA18AEBD-EF7B-7CD4-F793-AA0E46EB5F62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2193390" y="4647396"/>
            <a:ext cx="112204" cy="18027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9C19A7C-767F-27F8-1F46-1FC912C3FBD2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3795007" y="5590903"/>
            <a:ext cx="127365" cy="8592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図 29">
            <a:extLst>
              <a:ext uri="{FF2B5EF4-FFF2-40B4-BE49-F238E27FC236}">
                <a16:creationId xmlns:a16="http://schemas.microsoft.com/office/drawing/2014/main" id="{421386BA-8920-E249-71B9-462FE1A307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1441" y="3917648"/>
            <a:ext cx="2133785" cy="1204064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885E3BDC-6A11-DEC4-50AC-3163BFC466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3932" y="6345486"/>
            <a:ext cx="1912786" cy="320068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F6EAC493-6397-B8CE-20A9-0B1C3EE030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3932" y="5176464"/>
            <a:ext cx="2263336" cy="1104996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CBD0D4B-49B7-7BC2-59F9-8A1E87CC97CE}"/>
              </a:ext>
            </a:extLst>
          </p:cNvPr>
          <p:cNvSpPr txBox="1"/>
          <p:nvPr/>
        </p:nvSpPr>
        <p:spPr>
          <a:xfrm>
            <a:off x="5469955" y="3568563"/>
            <a:ext cx="3000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snappyHexMeshDict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38203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EA34B-10B6-F809-0572-85BCEED19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E86E04-83EE-12BC-F730-0CDF747D9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snappyHexMesh+surfaceFeatureExtract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879C7F2-2916-64C8-ABA7-C046E6F3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FC15FF2-2FD0-88AE-0EE7-B15E48ABEE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"/>
          <a:stretch>
            <a:fillRect/>
          </a:stretch>
        </p:blipFill>
        <p:spPr>
          <a:xfrm>
            <a:off x="6112995" y="1445057"/>
            <a:ext cx="3000707" cy="2339543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CC16870-E5A4-B4C8-4FA4-7E9B75408462}"/>
              </a:ext>
            </a:extLst>
          </p:cNvPr>
          <p:cNvSpPr txBox="1"/>
          <p:nvPr/>
        </p:nvSpPr>
        <p:spPr>
          <a:xfrm>
            <a:off x="5986576" y="1003653"/>
            <a:ext cx="3000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surfaceFeatureExtractDict</a:t>
            </a:r>
            <a:endParaRPr lang="ja-JP" altLang="en-US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8AF3C86-A96E-412B-7D9E-CD32B8BA3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995" y="4224410"/>
            <a:ext cx="2149026" cy="1120237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256F6F5-2E7C-BD20-AC99-CF2116006B7E}"/>
              </a:ext>
            </a:extLst>
          </p:cNvPr>
          <p:cNvSpPr txBox="1"/>
          <p:nvPr/>
        </p:nvSpPr>
        <p:spPr>
          <a:xfrm>
            <a:off x="5986576" y="3855078"/>
            <a:ext cx="3000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snappyHexMeshDict</a:t>
            </a:r>
            <a:endParaRPr lang="ja-JP" altLang="en-US" dirty="0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3487815F-45E9-CE31-1B3E-34350516B2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79" r="2208"/>
          <a:stretch>
            <a:fillRect/>
          </a:stretch>
        </p:blipFill>
        <p:spPr>
          <a:xfrm>
            <a:off x="-2" y="2614828"/>
            <a:ext cx="5690541" cy="3057385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D8B715E-1C8C-9FD7-9DA1-BF9B9B5E5FD0}"/>
              </a:ext>
            </a:extLst>
          </p:cNvPr>
          <p:cNvSpPr txBox="1"/>
          <p:nvPr/>
        </p:nvSpPr>
        <p:spPr>
          <a:xfrm>
            <a:off x="552104" y="2245496"/>
            <a:ext cx="12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cylinder.stl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7479D9C-BF21-CEDA-9F63-60195EE67E67}"/>
              </a:ext>
            </a:extLst>
          </p:cNvPr>
          <p:cNvSpPr txBox="1"/>
          <p:nvPr/>
        </p:nvSpPr>
        <p:spPr>
          <a:xfrm>
            <a:off x="2032141" y="2287876"/>
            <a:ext cx="1836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snappyHexMesh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9E466F1-1E3B-FDD3-A1AE-9976A9608837}"/>
              </a:ext>
            </a:extLst>
          </p:cNvPr>
          <p:cNvSpPr txBox="1"/>
          <p:nvPr/>
        </p:nvSpPr>
        <p:spPr>
          <a:xfrm>
            <a:off x="3720929" y="2010877"/>
            <a:ext cx="23920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 err="1"/>
              <a:t>snappyHexMesh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+</a:t>
            </a:r>
          </a:p>
          <a:p>
            <a:pPr algn="ctr"/>
            <a:r>
              <a:rPr kumimoji="1" lang="en-US" altLang="ja-JP" dirty="0" err="1"/>
              <a:t>surfaceFeatureExtract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64490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537BF6-4A48-8C29-68E9-9423EB71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snappyHexMesh</a:t>
            </a:r>
            <a:r>
              <a:rPr kumimoji="1" lang="ja-JP" altLang="en-US" dirty="0"/>
              <a:t>（局所的な細分化）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2A43AA-DFF8-B19A-8A33-021D1ADDF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FFADD89-4231-EECD-F928-D9C79EA91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79" y="851734"/>
            <a:ext cx="3214537" cy="263366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11FEC07-3E97-CA97-FA51-95C57A6AA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196" y="980331"/>
            <a:ext cx="2754739" cy="228033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EEF4F6F-A2BB-AF41-CD15-B1C403D78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79" y="3802909"/>
            <a:ext cx="2163931" cy="117007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E8F776D0-75DF-8821-4027-7939C4DE2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279" y="4972983"/>
            <a:ext cx="2168113" cy="1885016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E996019-39B5-6149-1FC5-61952043A3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538" y="5372656"/>
            <a:ext cx="2151302" cy="130278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45E9AA9C-19A6-4C0A-028A-C7646205A0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7538" y="4301940"/>
            <a:ext cx="1843160" cy="938336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C06A6B75-033E-0EBA-9EB6-2F7F604FDE4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841" r="8866" b="1135"/>
          <a:stretch>
            <a:fillRect/>
          </a:stretch>
        </p:blipFill>
        <p:spPr>
          <a:xfrm>
            <a:off x="2801192" y="4041770"/>
            <a:ext cx="3604960" cy="2633666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9AEA7DB9-1973-E71D-EB5A-A90454559B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7538" y="1503224"/>
            <a:ext cx="2248095" cy="123454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3239558-6E1B-0998-B266-6DB01CF719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8567" y="3199267"/>
            <a:ext cx="1553517" cy="1317443"/>
          </a:xfrm>
          <a:prstGeom prst="rect">
            <a:avLst/>
          </a:prstGeom>
        </p:spPr>
      </p:pic>
      <p:sp>
        <p:nvSpPr>
          <p:cNvPr id="8" name="楕円 7">
            <a:extLst>
              <a:ext uri="{FF2B5EF4-FFF2-40B4-BE49-F238E27FC236}">
                <a16:creationId xmlns:a16="http://schemas.microsoft.com/office/drawing/2014/main" id="{5D5C27F6-66F1-CA08-8FE8-A56061F8BE13}"/>
              </a:ext>
            </a:extLst>
          </p:cNvPr>
          <p:cNvSpPr>
            <a:spLocks noChangeAspect="1"/>
          </p:cNvSpPr>
          <p:nvPr/>
        </p:nvSpPr>
        <p:spPr>
          <a:xfrm>
            <a:off x="7748026" y="4136845"/>
            <a:ext cx="65430" cy="654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7E7A1BB7-86A1-9564-3EF6-0B7C50F60637}"/>
              </a:ext>
            </a:extLst>
          </p:cNvPr>
          <p:cNvSpPr>
            <a:spLocks noChangeAspect="1"/>
          </p:cNvSpPr>
          <p:nvPr/>
        </p:nvSpPr>
        <p:spPr>
          <a:xfrm>
            <a:off x="8698721" y="3327296"/>
            <a:ext cx="65430" cy="654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098BF58-EB8B-7891-C77F-405849ED91A5}"/>
              </a:ext>
            </a:extLst>
          </p:cNvPr>
          <p:cNvSpPr txBox="1"/>
          <p:nvPr/>
        </p:nvSpPr>
        <p:spPr>
          <a:xfrm>
            <a:off x="7718223" y="4186534"/>
            <a:ext cx="4171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min</a:t>
            </a:r>
            <a:endParaRPr kumimoji="1" lang="ja-JP" altLang="en-US" sz="11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BB9B562-59A4-AB04-B756-4E9EAE98A549}"/>
              </a:ext>
            </a:extLst>
          </p:cNvPr>
          <p:cNvSpPr txBox="1"/>
          <p:nvPr/>
        </p:nvSpPr>
        <p:spPr>
          <a:xfrm>
            <a:off x="8561020" y="3110523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max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74925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8DA75-A124-9E4F-C6A2-3C1B62D27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262AC1-BCF9-1995-E3A1-D4188B670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課題２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52BEED-51D3-D039-5B8F-19E099A3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4FF1A46-FA5B-CD81-A21E-157A3A719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267244" cy="270596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BAF83B0-ACFA-02A4-D8A3-C7DF71E647C4}"/>
              </a:ext>
            </a:extLst>
          </p:cNvPr>
          <p:cNvSpPr txBox="1"/>
          <p:nvPr/>
        </p:nvSpPr>
        <p:spPr>
          <a:xfrm>
            <a:off x="387927" y="1154374"/>
            <a:ext cx="8368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snappyHexMesh</a:t>
            </a:r>
            <a:r>
              <a:rPr lang="ja-JP" altLang="en-US" dirty="0"/>
              <a:t>を用いて形状をきれいに切り抜いて，その周囲の領域を細分化</a:t>
            </a:r>
            <a:endParaRPr lang="en-US" altLang="ja-JP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8A8DE98-B7ED-AEF7-B7A3-534240CA9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101" y="3352743"/>
            <a:ext cx="3823811" cy="269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945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D86B9017-9537-D9D3-D1E9-9359E41B0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interFoam</a:t>
            </a:r>
            <a:r>
              <a:rPr lang="ja-JP" altLang="en-US" dirty="0"/>
              <a:t>と境界条件設定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099B33-81A7-8FB4-AD77-E1043EA8A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  <p:pic>
        <p:nvPicPr>
          <p:cNvPr id="5" name="b">
            <a:hlinkClick r:id="" action="ppaction://media"/>
            <a:extLst>
              <a:ext uri="{FF2B5EF4-FFF2-40B4-BE49-F238E27FC236}">
                <a16:creationId xmlns:a16="http://schemas.microsoft.com/office/drawing/2014/main" id="{8ED15E18-F4A9-82BB-111D-0C9F7E42E56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5880" t="27793" r="5492" b="26035"/>
          <a:stretch>
            <a:fillRect/>
          </a:stretch>
        </p:blipFill>
        <p:spPr>
          <a:xfrm>
            <a:off x="174050" y="1433713"/>
            <a:ext cx="8355723" cy="369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1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714F33-3F59-9173-246F-68E36259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err="1"/>
              <a:t>interFoam</a:t>
            </a:r>
            <a:r>
              <a:rPr lang="ja-JP" altLang="en-US" dirty="0"/>
              <a:t>のファイル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F92D4B-F5DA-1359-6502-2A65C860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0E141D6-725C-64DD-ADAC-246B8642EC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4457"/>
          <a:stretch>
            <a:fillRect/>
          </a:stretch>
        </p:blipFill>
        <p:spPr bwMode="auto">
          <a:xfrm>
            <a:off x="550032" y="1519183"/>
            <a:ext cx="2133917" cy="211379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2E89A3E-B3DB-DD0A-F207-0AF1FF02B2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4" t="2228"/>
          <a:stretch>
            <a:fillRect/>
          </a:stretch>
        </p:blipFill>
        <p:spPr>
          <a:xfrm>
            <a:off x="3338373" y="1063812"/>
            <a:ext cx="1415573" cy="138586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36486F4-6869-D0F3-91E0-6868DCBA3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63812"/>
            <a:ext cx="2225233" cy="243861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D836233-3499-6C8E-A157-A05104DD1D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2134"/>
          <a:stretch>
            <a:fillRect/>
          </a:stretch>
        </p:blipFill>
        <p:spPr>
          <a:xfrm>
            <a:off x="6686796" y="1063812"/>
            <a:ext cx="2008788" cy="345215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CD2F0C4-88E9-D65F-0688-CBA718C6DEBC}"/>
              </a:ext>
            </a:extLst>
          </p:cNvPr>
          <p:cNvSpPr/>
          <p:nvPr/>
        </p:nvSpPr>
        <p:spPr>
          <a:xfrm>
            <a:off x="3263153" y="1063812"/>
            <a:ext cx="1308847" cy="1385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2531023-BBAC-985C-E50C-B476258CC3B2}"/>
              </a:ext>
            </a:extLst>
          </p:cNvPr>
          <p:cNvSpPr/>
          <p:nvPr/>
        </p:nvSpPr>
        <p:spPr>
          <a:xfrm>
            <a:off x="4572000" y="2449676"/>
            <a:ext cx="2114796" cy="1052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65C801-1DD3-57A2-5F17-2377A18B91AF}"/>
              </a:ext>
            </a:extLst>
          </p:cNvPr>
          <p:cNvSpPr/>
          <p:nvPr/>
        </p:nvSpPr>
        <p:spPr>
          <a:xfrm>
            <a:off x="6686796" y="1777939"/>
            <a:ext cx="2008788" cy="1052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9D5EBF0-5D90-02FB-95BF-D1684BCA4C20}"/>
              </a:ext>
            </a:extLst>
          </p:cNvPr>
          <p:cNvSpPr/>
          <p:nvPr/>
        </p:nvSpPr>
        <p:spPr>
          <a:xfrm>
            <a:off x="6686796" y="3544814"/>
            <a:ext cx="2008788" cy="336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035999C-D937-09DD-0B9C-C256FFBC8AFE}"/>
              </a:ext>
            </a:extLst>
          </p:cNvPr>
          <p:cNvSpPr txBox="1"/>
          <p:nvPr/>
        </p:nvSpPr>
        <p:spPr>
          <a:xfrm>
            <a:off x="448416" y="1149851"/>
            <a:ext cx="2531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alpha.water</a:t>
            </a:r>
            <a:r>
              <a:rPr kumimoji="1" lang="ja-JP" altLang="en-US" dirty="0"/>
              <a:t>（</a:t>
            </a:r>
            <a:r>
              <a:rPr kumimoji="1" lang="en-US" altLang="ja-JP" dirty="0"/>
              <a:t>VOF</a:t>
            </a:r>
            <a:r>
              <a:rPr kumimoji="1" lang="ja-JP" altLang="en-US" dirty="0"/>
              <a:t>値）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F630825-6509-D7C7-A9E8-1E4D37FB9C20}"/>
              </a:ext>
            </a:extLst>
          </p:cNvPr>
          <p:cNvSpPr txBox="1"/>
          <p:nvPr/>
        </p:nvSpPr>
        <p:spPr>
          <a:xfrm>
            <a:off x="254850" y="4515971"/>
            <a:ext cx="39370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U, </a:t>
            </a:r>
            <a:r>
              <a:rPr kumimoji="1" lang="en-US" altLang="ja-JP" dirty="0" err="1"/>
              <a:t>p_rgh</a:t>
            </a:r>
            <a:endParaRPr kumimoji="1" lang="en-US" altLang="ja-JP" dirty="0"/>
          </a:p>
          <a:p>
            <a:r>
              <a:rPr kumimoji="1" lang="ja-JP" altLang="en-US" dirty="0"/>
              <a:t>境界条件の設定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 err="1"/>
              <a:t>alpha.water</a:t>
            </a:r>
            <a:endParaRPr kumimoji="1" lang="en-US" altLang="ja-JP" dirty="0"/>
          </a:p>
          <a:p>
            <a:r>
              <a:rPr kumimoji="1" lang="ja-JP" altLang="en-US" dirty="0"/>
              <a:t>境界条件の設定＋初期分布の設定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96F05EF-D5D6-9B06-1693-C7E0A8DE49C4}"/>
              </a:ext>
            </a:extLst>
          </p:cNvPr>
          <p:cNvSpPr txBox="1"/>
          <p:nvPr/>
        </p:nvSpPr>
        <p:spPr>
          <a:xfrm>
            <a:off x="2417398" y="5841856"/>
            <a:ext cx="109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setFields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2EDD16A-BAC7-0D0D-DB33-5F3576F02E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5372"/>
          <a:stretch>
            <a:fillRect/>
          </a:stretch>
        </p:blipFill>
        <p:spPr>
          <a:xfrm>
            <a:off x="6721501" y="5062460"/>
            <a:ext cx="2008789" cy="25146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380C54E-7D8F-B404-8C3F-E1CA6E0BB0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1224" y="4645015"/>
            <a:ext cx="1954616" cy="203077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CEB0C9D-A25A-264F-AF89-6AF7E46678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1501" y="5919019"/>
            <a:ext cx="1737511" cy="243861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1273624-6DC4-0BFB-679D-2F0320874221}"/>
              </a:ext>
            </a:extLst>
          </p:cNvPr>
          <p:cNvSpPr txBox="1"/>
          <p:nvPr/>
        </p:nvSpPr>
        <p:spPr>
          <a:xfrm>
            <a:off x="4222264" y="4367666"/>
            <a:ext cx="1556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transportProperties</a:t>
            </a:r>
            <a:endParaRPr kumimoji="1"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168DD7D-50F7-16B8-4B6A-6DC8856B8E93}"/>
              </a:ext>
            </a:extLst>
          </p:cNvPr>
          <p:cNvSpPr txBox="1"/>
          <p:nvPr/>
        </p:nvSpPr>
        <p:spPr>
          <a:xfrm>
            <a:off x="6605198" y="4785461"/>
            <a:ext cx="498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g</a:t>
            </a:r>
            <a:endParaRPr kumimoji="1" lang="ja-JP" altLang="en-US" sz="12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D1D1137-88F0-7F62-65B6-1507ABB587B9}"/>
              </a:ext>
            </a:extLst>
          </p:cNvPr>
          <p:cNvSpPr txBox="1"/>
          <p:nvPr/>
        </p:nvSpPr>
        <p:spPr>
          <a:xfrm>
            <a:off x="6605198" y="5721913"/>
            <a:ext cx="1737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turbulenceProperties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>
            <a:extLst>
              <a:ext uri="{FF2B5EF4-FFF2-40B4-BE49-F238E27FC236}">
                <a16:creationId xmlns:a16="http://schemas.microsoft.com/office/drawing/2014/main" id="{39312F29-8CF0-CB25-F51A-8FC1145F7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2" y="930938"/>
            <a:ext cx="2904488" cy="240340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BC82871-C42E-C6C3-8D26-BB9BA788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境界条件（大気・壁）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B8A55F3-3EB1-6892-982E-BAC6FF0F3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C107DC8-B1E4-732F-9928-72FC1EF4B29B}"/>
              </a:ext>
            </a:extLst>
          </p:cNvPr>
          <p:cNvSpPr txBox="1"/>
          <p:nvPr/>
        </p:nvSpPr>
        <p:spPr>
          <a:xfrm>
            <a:off x="1365644" y="1074821"/>
            <a:ext cx="112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atmosphere</a:t>
            </a:r>
            <a:endParaRPr kumimoji="1" lang="ja-JP" altLang="en-US" sz="1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F01178-5F21-34D2-5A44-D0F3828BE6AD}"/>
              </a:ext>
            </a:extLst>
          </p:cNvPr>
          <p:cNvSpPr txBox="1"/>
          <p:nvPr/>
        </p:nvSpPr>
        <p:spPr>
          <a:xfrm>
            <a:off x="1230711" y="1803172"/>
            <a:ext cx="804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cylinder</a:t>
            </a:r>
            <a:endParaRPr kumimoji="1" lang="ja-JP" altLang="en-US" sz="1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A4BF185-37EF-81E1-59A2-6811C43DE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57" y="3853045"/>
            <a:ext cx="3120124" cy="65686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6731FA1-48B3-6741-9E35-9BE3FB475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157" y="4881014"/>
            <a:ext cx="1984267" cy="748276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59AE005-E877-02CA-A4F9-13E8AC325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157" y="5908480"/>
            <a:ext cx="2263336" cy="656868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F1EBD4-B772-611A-7A35-BC61E98B95B0}"/>
              </a:ext>
            </a:extLst>
          </p:cNvPr>
          <p:cNvSpPr txBox="1"/>
          <p:nvPr/>
        </p:nvSpPr>
        <p:spPr>
          <a:xfrm>
            <a:off x="870958" y="4649171"/>
            <a:ext cx="991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alpha.water</a:t>
            </a:r>
            <a:endParaRPr kumimoji="1"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C1EEE1-D340-C5BC-67F1-82E4E560B815}"/>
              </a:ext>
            </a:extLst>
          </p:cNvPr>
          <p:cNvSpPr txBox="1"/>
          <p:nvPr/>
        </p:nvSpPr>
        <p:spPr>
          <a:xfrm>
            <a:off x="873974" y="3644917"/>
            <a:ext cx="491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U</a:t>
            </a:r>
            <a:endParaRPr kumimoji="1"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FB11BC0-74D3-E8F1-6EF2-B33C40EEA8D6}"/>
              </a:ext>
            </a:extLst>
          </p:cNvPr>
          <p:cNvSpPr txBox="1"/>
          <p:nvPr/>
        </p:nvSpPr>
        <p:spPr>
          <a:xfrm>
            <a:off x="873314" y="5686238"/>
            <a:ext cx="609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p_rgh</a:t>
            </a:r>
            <a:endParaRPr kumimoji="1" lang="ja-JP" altLang="en-US" sz="1200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68D08A2D-9AB6-610C-3880-0F3C97E9CF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768" y="5930888"/>
            <a:ext cx="2667231" cy="586791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3DD48B5E-1D84-2943-A426-8C38B40207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768" y="4883284"/>
            <a:ext cx="2192086" cy="542666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1F5CD3BC-EF54-5179-545E-4A300C8EA1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768" y="3853045"/>
            <a:ext cx="2192086" cy="845142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C8C731A-3CB3-9400-3674-791555EADE29}"/>
              </a:ext>
            </a:extLst>
          </p:cNvPr>
          <p:cNvSpPr txBox="1"/>
          <p:nvPr/>
        </p:nvSpPr>
        <p:spPr>
          <a:xfrm>
            <a:off x="2869308" y="2170163"/>
            <a:ext cx="589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walls</a:t>
            </a:r>
            <a:endParaRPr kumimoji="1" lang="ja-JP" altLang="en-US" sz="14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08148FA-E984-26F8-10A5-8B80E8FF14E2}"/>
              </a:ext>
            </a:extLst>
          </p:cNvPr>
          <p:cNvSpPr txBox="1"/>
          <p:nvPr/>
        </p:nvSpPr>
        <p:spPr>
          <a:xfrm>
            <a:off x="4593479" y="4649171"/>
            <a:ext cx="991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alpha.water</a:t>
            </a:r>
            <a:endParaRPr kumimoji="1" lang="ja-JP" altLang="en-US" sz="12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BFBA0A3-2E03-D64E-592F-60E045945B4B}"/>
              </a:ext>
            </a:extLst>
          </p:cNvPr>
          <p:cNvSpPr txBox="1"/>
          <p:nvPr/>
        </p:nvSpPr>
        <p:spPr>
          <a:xfrm>
            <a:off x="4596495" y="3644917"/>
            <a:ext cx="491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U</a:t>
            </a:r>
            <a:endParaRPr kumimoji="1" lang="ja-JP" altLang="en-US" sz="12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0E97426-B6C4-09AE-8E1A-459820EE29C7}"/>
              </a:ext>
            </a:extLst>
          </p:cNvPr>
          <p:cNvSpPr txBox="1"/>
          <p:nvPr/>
        </p:nvSpPr>
        <p:spPr>
          <a:xfrm>
            <a:off x="4595835" y="5686238"/>
            <a:ext cx="609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p_rgh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42326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D68A84-26EA-72F1-6F98-A9432428C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境界条件（流出・流入）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9864DA-173C-2ECE-F017-0D2ACCAB5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E5DB5F9-F825-1F8A-FBDB-5BA4EC871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03" y="914687"/>
            <a:ext cx="2875726" cy="243330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A0BD85F-CCA8-D2DB-BA71-AE7C9281BA4C}"/>
              </a:ext>
            </a:extLst>
          </p:cNvPr>
          <p:cNvSpPr txBox="1"/>
          <p:nvPr/>
        </p:nvSpPr>
        <p:spPr>
          <a:xfrm>
            <a:off x="1365644" y="1074821"/>
            <a:ext cx="112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atmosphere</a:t>
            </a:r>
            <a:endParaRPr kumimoji="1" lang="ja-JP" altLang="en-US" sz="1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446B53-A4CE-BF5C-C718-F4EC8245AA89}"/>
              </a:ext>
            </a:extLst>
          </p:cNvPr>
          <p:cNvSpPr txBox="1"/>
          <p:nvPr/>
        </p:nvSpPr>
        <p:spPr>
          <a:xfrm>
            <a:off x="1230711" y="1803172"/>
            <a:ext cx="804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cylinder</a:t>
            </a:r>
            <a:endParaRPr kumimoji="1" lang="ja-JP" altLang="en-US" sz="1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3A827D1-B009-8C18-00EC-AF41449E5AB1}"/>
              </a:ext>
            </a:extLst>
          </p:cNvPr>
          <p:cNvSpPr txBox="1"/>
          <p:nvPr/>
        </p:nvSpPr>
        <p:spPr>
          <a:xfrm>
            <a:off x="450304" y="2336417"/>
            <a:ext cx="589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walls</a:t>
            </a:r>
            <a:endParaRPr kumimoji="1" lang="ja-JP" altLang="en-US" sz="1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AFE523-E73C-4967-D1D1-2C5D4B721C89}"/>
              </a:ext>
            </a:extLst>
          </p:cNvPr>
          <p:cNvSpPr txBox="1"/>
          <p:nvPr/>
        </p:nvSpPr>
        <p:spPr>
          <a:xfrm>
            <a:off x="2553054" y="2211407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outlet</a:t>
            </a:r>
            <a:endParaRPr kumimoji="1" lang="ja-JP" altLang="en-US" sz="1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43E9453-DFC4-D9EE-2190-708649E96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61" y="3846432"/>
            <a:ext cx="2522439" cy="85351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5BBE96F-CC29-6B61-466B-2B0D76C06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14" y="4910342"/>
            <a:ext cx="2400508" cy="586791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5B4268E7-206D-82C9-90B3-444A67157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02" y="5943313"/>
            <a:ext cx="2720576" cy="594412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565614D9-7E4F-4D94-E8C9-44A81F40FC0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439"/>
          <a:stretch>
            <a:fillRect/>
          </a:stretch>
        </p:blipFill>
        <p:spPr>
          <a:xfrm>
            <a:off x="4957321" y="914686"/>
            <a:ext cx="3295508" cy="2613137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C384031-27C9-5460-33CC-FF39D318A526}"/>
              </a:ext>
            </a:extLst>
          </p:cNvPr>
          <p:cNvSpPr txBox="1"/>
          <p:nvPr/>
        </p:nvSpPr>
        <p:spPr>
          <a:xfrm>
            <a:off x="7592528" y="2131340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outlet</a:t>
            </a:r>
            <a:endParaRPr kumimoji="1" lang="ja-JP" altLang="en-US" sz="1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F3EDAA1-2B62-5DAC-ECAD-AB091B288712}"/>
              </a:ext>
            </a:extLst>
          </p:cNvPr>
          <p:cNvSpPr txBox="1"/>
          <p:nvPr/>
        </p:nvSpPr>
        <p:spPr>
          <a:xfrm>
            <a:off x="6304246" y="2664389"/>
            <a:ext cx="804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cylinder</a:t>
            </a:r>
            <a:endParaRPr kumimoji="1" lang="ja-JP" altLang="en-US" sz="14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44ED72B-8308-B55E-144F-C4C9EF959784}"/>
              </a:ext>
            </a:extLst>
          </p:cNvPr>
          <p:cNvSpPr txBox="1"/>
          <p:nvPr/>
        </p:nvSpPr>
        <p:spPr>
          <a:xfrm>
            <a:off x="5270224" y="2519184"/>
            <a:ext cx="526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inlet</a:t>
            </a:r>
            <a:endParaRPr kumimoji="1" lang="ja-JP" altLang="en-US" sz="1400" dirty="0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EB2D5B11-596D-BB53-1C2E-31259C1E8A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7773" y="3858787"/>
            <a:ext cx="2568163" cy="731583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A1C4B8E5-83B1-B729-41B6-5B6FD0A0FB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5700" y="4923408"/>
            <a:ext cx="1908450" cy="701733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E57CCB7E-D027-8A12-B773-10CF023AB6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7773" y="5963237"/>
            <a:ext cx="2674852" cy="594412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1813C39-A676-9741-6666-99ECEA4EDF2C}"/>
              </a:ext>
            </a:extLst>
          </p:cNvPr>
          <p:cNvSpPr txBox="1"/>
          <p:nvPr/>
        </p:nvSpPr>
        <p:spPr>
          <a:xfrm>
            <a:off x="612749" y="4675242"/>
            <a:ext cx="991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alpha.water</a:t>
            </a:r>
            <a:endParaRPr kumimoji="1" lang="ja-JP" altLang="en-US" sz="12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451C9CF-00E6-790C-5AC0-EB41B8988A1A}"/>
              </a:ext>
            </a:extLst>
          </p:cNvPr>
          <p:cNvSpPr txBox="1"/>
          <p:nvPr/>
        </p:nvSpPr>
        <p:spPr>
          <a:xfrm>
            <a:off x="592753" y="3644917"/>
            <a:ext cx="491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U</a:t>
            </a:r>
            <a:endParaRPr kumimoji="1" lang="ja-JP" altLang="en-US" sz="12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6D45501-8244-D2E7-958D-5619127DD980}"/>
              </a:ext>
            </a:extLst>
          </p:cNvPr>
          <p:cNvSpPr txBox="1"/>
          <p:nvPr/>
        </p:nvSpPr>
        <p:spPr>
          <a:xfrm>
            <a:off x="592093" y="5686238"/>
            <a:ext cx="609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p_rgh</a:t>
            </a:r>
            <a:endParaRPr kumimoji="1" lang="ja-JP" altLang="en-US" sz="12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23EF104-D998-A457-640F-1D6A2F87E2A2}"/>
              </a:ext>
            </a:extLst>
          </p:cNvPr>
          <p:cNvSpPr txBox="1"/>
          <p:nvPr/>
        </p:nvSpPr>
        <p:spPr>
          <a:xfrm>
            <a:off x="5290880" y="4675242"/>
            <a:ext cx="991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alpha.water</a:t>
            </a:r>
            <a:endParaRPr kumimoji="1" lang="ja-JP" altLang="en-US" sz="12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335F58D-F856-5461-3290-340D5CABCE3E}"/>
              </a:ext>
            </a:extLst>
          </p:cNvPr>
          <p:cNvSpPr txBox="1"/>
          <p:nvPr/>
        </p:nvSpPr>
        <p:spPr>
          <a:xfrm>
            <a:off x="5270884" y="3644917"/>
            <a:ext cx="491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U</a:t>
            </a:r>
            <a:endParaRPr kumimoji="1" lang="ja-JP" altLang="en-US" sz="12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420F2E5-9A86-C9D4-76A9-BC379AD52B43}"/>
              </a:ext>
            </a:extLst>
          </p:cNvPr>
          <p:cNvSpPr txBox="1"/>
          <p:nvPr/>
        </p:nvSpPr>
        <p:spPr>
          <a:xfrm>
            <a:off x="5270224" y="5686238"/>
            <a:ext cx="609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p_rgh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26122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AA32F-5584-FCF2-1267-6F727C3C8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setFields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4ED6083-9887-DC89-2346-2C731698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BAFEBA6-E22B-2331-A5BB-6E3516530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118" y="1478111"/>
            <a:ext cx="3505504" cy="390177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367856F-CA63-EB2D-607E-49B34C2F1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78" y="1535266"/>
            <a:ext cx="4648603" cy="37874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CE07094-8571-663E-0795-8F03EE92EC56}"/>
                  </a:ext>
                </a:extLst>
              </p:cNvPr>
              <p:cNvSpPr txBox="1"/>
              <p:nvPr/>
            </p:nvSpPr>
            <p:spPr>
              <a:xfrm>
                <a:off x="757139" y="5107290"/>
                <a:ext cx="14089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sz="1400" dirty="0"/>
                  <a:t>min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ja-JP" altLang="en-US" sz="14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CE07094-8571-663E-0795-8F03EE92E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39" y="5107290"/>
                <a:ext cx="1408975" cy="215444"/>
              </a:xfrm>
              <a:prstGeom prst="rect">
                <a:avLst/>
              </a:prstGeom>
              <a:blipFill>
                <a:blip r:embed="rId4"/>
                <a:stretch>
                  <a:fillRect l="-7792" t="-25714" b="-514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69E89902-CA50-DF1F-1BF6-DDBA5E087820}"/>
                  </a:ext>
                </a:extLst>
              </p:cNvPr>
              <p:cNvSpPr txBox="1"/>
              <p:nvPr/>
            </p:nvSpPr>
            <p:spPr>
              <a:xfrm>
                <a:off x="3627719" y="1370389"/>
                <a:ext cx="144424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sz="1400" dirty="0"/>
                  <a:t>max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ja-JP" altLang="en-US" sz="14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69E89902-CA50-DF1F-1BF6-DDBA5E087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719" y="1370389"/>
                <a:ext cx="1444242" cy="215444"/>
              </a:xfrm>
              <a:prstGeom prst="rect">
                <a:avLst/>
              </a:prstGeom>
              <a:blipFill>
                <a:blip r:embed="rId5"/>
                <a:stretch>
                  <a:fillRect l="-7595" t="-25714" b="-514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図 9">
            <a:extLst>
              <a:ext uri="{FF2B5EF4-FFF2-40B4-BE49-F238E27FC236}">
                <a16:creationId xmlns:a16="http://schemas.microsoft.com/office/drawing/2014/main" id="{068BA08E-1CAD-F82F-D3C3-4B9FE3E912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590" y="5322734"/>
            <a:ext cx="1553517" cy="1317443"/>
          </a:xfrm>
          <a:prstGeom prst="rect">
            <a:avLst/>
          </a:prstGeom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21228B65-DD6D-D8FF-C57E-859F113CCC31}"/>
              </a:ext>
            </a:extLst>
          </p:cNvPr>
          <p:cNvSpPr>
            <a:spLocks noChangeAspect="1"/>
          </p:cNvSpPr>
          <p:nvPr/>
        </p:nvSpPr>
        <p:spPr>
          <a:xfrm>
            <a:off x="6726049" y="6260312"/>
            <a:ext cx="65430" cy="654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C1EB8C0F-191A-2CA7-6672-2F10D7B30D65}"/>
              </a:ext>
            </a:extLst>
          </p:cNvPr>
          <p:cNvSpPr>
            <a:spLocks noChangeAspect="1"/>
          </p:cNvSpPr>
          <p:nvPr/>
        </p:nvSpPr>
        <p:spPr>
          <a:xfrm>
            <a:off x="7676744" y="5450763"/>
            <a:ext cx="65430" cy="654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E9B84E3-C727-776F-0443-773BFA63C9C9}"/>
              </a:ext>
            </a:extLst>
          </p:cNvPr>
          <p:cNvSpPr txBox="1"/>
          <p:nvPr/>
        </p:nvSpPr>
        <p:spPr>
          <a:xfrm>
            <a:off x="6696246" y="6310001"/>
            <a:ext cx="4171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min</a:t>
            </a:r>
            <a:endParaRPr kumimoji="1" lang="ja-JP" altLang="en-US" sz="11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912328C-4858-9842-F299-C3E3355A9138}"/>
              </a:ext>
            </a:extLst>
          </p:cNvPr>
          <p:cNvSpPr txBox="1"/>
          <p:nvPr/>
        </p:nvSpPr>
        <p:spPr>
          <a:xfrm>
            <a:off x="7539043" y="523399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max</a:t>
            </a:r>
            <a:endParaRPr kumimoji="1" lang="ja-JP" altLang="en-US" sz="11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B5DF1F6-EF5A-CDC4-B42F-D799A266DC11}"/>
              </a:ext>
            </a:extLst>
          </p:cNvPr>
          <p:cNvSpPr txBox="1"/>
          <p:nvPr/>
        </p:nvSpPr>
        <p:spPr>
          <a:xfrm>
            <a:off x="7020489" y="2544578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solidFill>
                  <a:srgbClr val="FF0000"/>
                </a:solidFill>
              </a:rPr>
              <a:t>max</a:t>
            </a:r>
            <a:endParaRPr kumimoji="1" lang="ja-JP" altLang="en-US" sz="1100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83C2654-0694-4111-0272-419F36772310}"/>
              </a:ext>
            </a:extLst>
          </p:cNvPr>
          <p:cNvSpPr txBox="1"/>
          <p:nvPr/>
        </p:nvSpPr>
        <p:spPr>
          <a:xfrm>
            <a:off x="6327625" y="2544578"/>
            <a:ext cx="4171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solidFill>
                  <a:srgbClr val="FF0000"/>
                </a:solidFill>
              </a:rPr>
              <a:t>min</a:t>
            </a:r>
            <a:endParaRPr kumimoji="1" lang="ja-JP" altLang="en-US" sz="1100" dirty="0">
              <a:solidFill>
                <a:srgbClr val="FF0000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52BD572C-F62F-919A-E038-EB1F1BA0CE49}"/>
              </a:ext>
            </a:extLst>
          </p:cNvPr>
          <p:cNvSpPr>
            <a:spLocks noChangeAspect="1"/>
          </p:cNvSpPr>
          <p:nvPr/>
        </p:nvSpPr>
        <p:spPr>
          <a:xfrm>
            <a:off x="1162643" y="4490650"/>
            <a:ext cx="139805" cy="139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8630BC3A-3BB0-8F16-700B-199298599717}"/>
              </a:ext>
            </a:extLst>
          </p:cNvPr>
          <p:cNvSpPr>
            <a:spLocks noChangeAspect="1"/>
          </p:cNvSpPr>
          <p:nvPr/>
        </p:nvSpPr>
        <p:spPr>
          <a:xfrm>
            <a:off x="3039341" y="2736285"/>
            <a:ext cx="139805" cy="139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50CA4EB-F38B-1F63-F957-24DCCE51D78E}"/>
              </a:ext>
            </a:extLst>
          </p:cNvPr>
          <p:cNvCxnSpPr>
            <a:cxnSpLocks/>
            <a:stCxn id="17" idx="5"/>
          </p:cNvCxnSpPr>
          <p:nvPr/>
        </p:nvCxnSpPr>
        <p:spPr>
          <a:xfrm>
            <a:off x="1281974" y="4609981"/>
            <a:ext cx="179652" cy="497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7C4A6A86-C2A2-A98C-373B-118B0E937888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3109243" y="1585833"/>
            <a:ext cx="1240597" cy="12064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997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E21E6D-A97E-81EC-F140-99ED60FE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setFields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F44B2F0-A4B3-2180-E02E-1B1E240E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BFF4F2C-6814-79E4-4B55-B561F1EA0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27" y="1142417"/>
            <a:ext cx="3844018" cy="266196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5F05021-B56A-FDBA-88BA-5BBB260991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935"/>
          <a:stretch>
            <a:fillRect/>
          </a:stretch>
        </p:blipFill>
        <p:spPr>
          <a:xfrm>
            <a:off x="4349922" y="1142417"/>
            <a:ext cx="3711349" cy="258452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B57EEAD-3B6E-9761-2ACC-B1CC304F4C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27" r="15654"/>
          <a:stretch>
            <a:fillRect/>
          </a:stretch>
        </p:blipFill>
        <p:spPr>
          <a:xfrm>
            <a:off x="4316369" y="4226873"/>
            <a:ext cx="3744902" cy="246996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467E270-B6E7-1650-7DDB-A63B2B1563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4848"/>
          <a:stretch>
            <a:fillRect/>
          </a:stretch>
        </p:blipFill>
        <p:spPr>
          <a:xfrm>
            <a:off x="327843" y="4204543"/>
            <a:ext cx="3744902" cy="2492292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023C48C-D5E5-1430-B07A-669B4CDC4550}"/>
              </a:ext>
            </a:extLst>
          </p:cNvPr>
          <p:cNvSpPr txBox="1"/>
          <p:nvPr/>
        </p:nvSpPr>
        <p:spPr>
          <a:xfrm>
            <a:off x="1778012" y="94561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目標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0B1B316-EF38-3616-EF3D-0632EECD0AFE}"/>
              </a:ext>
            </a:extLst>
          </p:cNvPr>
          <p:cNvSpPr txBox="1"/>
          <p:nvPr/>
        </p:nvSpPr>
        <p:spPr>
          <a:xfrm>
            <a:off x="5071257" y="89244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そのままのメッシュ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BB5EC1-D19B-4B11-C8E6-BA3B512FA0B5}"/>
              </a:ext>
            </a:extLst>
          </p:cNvPr>
          <p:cNvSpPr txBox="1"/>
          <p:nvPr/>
        </p:nvSpPr>
        <p:spPr>
          <a:xfrm>
            <a:off x="5288815" y="393498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メッシュの適合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E14181F-2754-4D0C-5D42-BDBA9DF644E1}"/>
              </a:ext>
            </a:extLst>
          </p:cNvPr>
          <p:cNvSpPr txBox="1"/>
          <p:nvPr/>
        </p:nvSpPr>
        <p:spPr>
          <a:xfrm>
            <a:off x="1184874" y="391265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メッシュの細分化</a:t>
            </a:r>
          </a:p>
        </p:txBody>
      </p:sp>
    </p:spTree>
    <p:extLst>
      <p:ext uri="{BB962C8B-B14F-4D97-AF65-F5344CB8AC3E}">
        <p14:creationId xmlns:p14="http://schemas.microsoft.com/office/powerpoint/2010/main" val="1076115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FDAD55-FF65-501D-FBFF-A1135E82C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課題３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D4746CC-F6CE-9EDE-3EAC-1E13640C2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3AB-1484-4739-9B14-C11D8403ABCC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  <p:pic>
        <p:nvPicPr>
          <p:cNvPr id="4" name="無題のビデオ ‐ Clipchampで作成">
            <a:hlinkClick r:id="" action="ppaction://media"/>
            <a:extLst>
              <a:ext uri="{FF2B5EF4-FFF2-40B4-BE49-F238E27FC236}">
                <a16:creationId xmlns:a16="http://schemas.microsoft.com/office/drawing/2014/main" id="{15DA07D2-CC3B-C1F5-9BAE-AEC8FAA06EF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9777" t="20677" r="18769"/>
          <a:stretch>
            <a:fillRect/>
          </a:stretch>
        </p:blipFill>
        <p:spPr>
          <a:xfrm>
            <a:off x="1533505" y="2108338"/>
            <a:ext cx="6225310" cy="452657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6FB491C-7657-0E61-471F-0DE2CFEEC289}"/>
              </a:ext>
            </a:extLst>
          </p:cNvPr>
          <p:cNvSpPr txBox="1"/>
          <p:nvPr/>
        </p:nvSpPr>
        <p:spPr>
          <a:xfrm>
            <a:off x="877454" y="1108192"/>
            <a:ext cx="7389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課題２のメッシュでダムブレイク流れと一定流れを発生させる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6183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9627</TotalTime>
  <Words>289</Words>
  <Application>Microsoft Office PowerPoint</Application>
  <PresentationFormat>画面に合わせる (4:3)</PresentationFormat>
  <Paragraphs>103</Paragraphs>
  <Slides>15</Slides>
  <Notes>0</Notes>
  <HiddenSlides>0</HiddenSlides>
  <MMClips>4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游ゴシック</vt:lpstr>
      <vt:lpstr>Aptos</vt:lpstr>
      <vt:lpstr>Aptos Display</vt:lpstr>
      <vt:lpstr>Arial</vt:lpstr>
      <vt:lpstr>Cambria Math</vt:lpstr>
      <vt:lpstr>Office テーマ</vt:lpstr>
      <vt:lpstr>PowerPoint プレゼンテーション</vt:lpstr>
      <vt:lpstr>blockMesh</vt:lpstr>
      <vt:lpstr>blockMesh</vt:lpstr>
      <vt:lpstr>課題１</vt:lpstr>
      <vt:lpstr>snappyHexMesh</vt:lpstr>
      <vt:lpstr>snappyHexMesh+surfaceFeatureExtract</vt:lpstr>
      <vt:lpstr>snappyHexMesh（局所的な細分化）</vt:lpstr>
      <vt:lpstr>課題２</vt:lpstr>
      <vt:lpstr>interFoamと境界条件設定</vt:lpstr>
      <vt:lpstr>interFoamのファイル</vt:lpstr>
      <vt:lpstr>境界条件（大気・壁）</vt:lpstr>
      <vt:lpstr>境界条件（流出・流入）</vt:lpstr>
      <vt:lpstr>setFields</vt:lpstr>
      <vt:lpstr>setFields</vt:lpstr>
      <vt:lpstr>課題３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TSUTSUMI Yudai</dc:creator>
  <cp:lastModifiedBy>TSUTSUMI Yudai</cp:lastModifiedBy>
  <cp:revision>85</cp:revision>
  <dcterms:created xsi:type="dcterms:W3CDTF">2025-09-20T10:59:10Z</dcterms:created>
  <dcterms:modified xsi:type="dcterms:W3CDTF">2026-02-09T08:03:21Z</dcterms:modified>
</cp:coreProperties>
</file>